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4" r:id="rId6"/>
    <p:sldId id="260" r:id="rId7"/>
    <p:sldId id="261" r:id="rId8"/>
    <p:sldId id="262" r:id="rId9"/>
    <p:sldId id="263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>
        <p:scale>
          <a:sx n="125" d="100"/>
          <a:sy n="125" d="100"/>
        </p:scale>
        <p:origin x="64" y="-6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331579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5.png"/><Relationship Id="rId3" Type="http://schemas.openxmlformats.org/officeDocument/2006/relationships/image" Target="../media/image1.png"/><Relationship Id="rId7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3.png"/><Relationship Id="rId4" Type="http://schemas.openxmlformats.org/officeDocument/2006/relationships/image" Target="../media/image14.png"/><Relationship Id="rId9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15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583680" y="-1371600"/>
            <a:ext cx="4114800" cy="4114800"/>
          </a:xfrm>
          <a:prstGeom prst="ellipse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7132320" y="-914400"/>
            <a:ext cx="3200400" cy="3200400"/>
          </a:xfrm>
          <a:prstGeom prst="ellipse">
            <a:avLst/>
          </a:prstGeom>
          <a:solidFill>
            <a:srgbClr val="00838F">
              <a:alpha val="60000"/>
            </a:srgbClr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4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914400"/>
            <a:ext cx="1371600" cy="137160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57200" y="246888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 de Culture Générale</a:t>
            </a:r>
            <a:endParaRPr lang="en-US" sz="3800" dirty="0"/>
          </a:p>
        </p:txBody>
      </p:sp>
      <p:sp>
        <p:nvSpPr>
          <p:cNvPr id="6" name="Text 3"/>
          <p:cNvSpPr/>
          <p:nvPr/>
        </p:nvSpPr>
        <p:spPr>
          <a:xfrm>
            <a:off x="457200" y="333756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Présentation technique du projet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0" y="4663440"/>
            <a:ext cx="9144000" cy="48006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5"/>
          <p:cNvSpPr/>
          <p:nvPr/>
        </p:nvSpPr>
        <p:spPr>
          <a:xfrm>
            <a:off x="365760" y="4709160"/>
            <a:ext cx="8412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Antoine Aubry  ·  HEIG-VD  ·  10 juin 2026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projet en bref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5" name="Shape 3"/>
          <p:cNvSpPr/>
          <p:nvPr/>
        </p:nvSpPr>
        <p:spPr>
          <a:xfrm>
            <a:off x="2743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Shape 4"/>
          <p:cNvSpPr/>
          <p:nvPr/>
        </p:nvSpPr>
        <p:spPr>
          <a:xfrm>
            <a:off x="2743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7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408176" y="1033272"/>
            <a:ext cx="384048" cy="38404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2743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 React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3657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web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sans rechargement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2461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1" name="Shape 8"/>
          <p:cNvSpPr/>
          <p:nvPr/>
        </p:nvSpPr>
        <p:spPr>
          <a:xfrm>
            <a:off x="32461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Shape 9"/>
          <p:cNvSpPr/>
          <p:nvPr/>
        </p:nvSpPr>
        <p:spPr>
          <a:xfrm>
            <a:off x="32461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3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379976" y="1033272"/>
            <a:ext cx="384048" cy="38404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32461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200" dirty="0"/>
          </a:p>
        </p:txBody>
      </p:sp>
      <p:sp>
        <p:nvSpPr>
          <p:cNvPr id="15" name="Text 11"/>
          <p:cNvSpPr/>
          <p:nvPr/>
        </p:nvSpPr>
        <p:spPr>
          <a:xfrm>
            <a:off x="33375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externe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gratuite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6217920" y="868680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17" name="Shape 13"/>
          <p:cNvSpPr/>
          <p:nvPr/>
        </p:nvSpPr>
        <p:spPr>
          <a:xfrm>
            <a:off x="6217920" y="868680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8" name="Shape 14"/>
          <p:cNvSpPr/>
          <p:nvPr/>
        </p:nvSpPr>
        <p:spPr>
          <a:xfrm>
            <a:off x="6217920" y="1536192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51776" y="1033272"/>
            <a:ext cx="384048" cy="384048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217920" y="1719072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questions</a:t>
            </a:r>
            <a:endParaRPr lang="en-US" sz="1200" dirty="0"/>
          </a:p>
        </p:txBody>
      </p:sp>
      <p:sp>
        <p:nvSpPr>
          <p:cNvPr id="21" name="Text 16"/>
          <p:cNvSpPr/>
          <p:nvPr/>
        </p:nvSpPr>
        <p:spPr>
          <a:xfrm>
            <a:off x="6309360" y="2057400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Catégorie +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Difficulté</a:t>
            </a:r>
            <a:endParaRPr lang="en-US" sz="1050" dirty="0"/>
          </a:p>
        </p:txBody>
      </p:sp>
      <p:sp>
        <p:nvSpPr>
          <p:cNvPr id="22" name="Shape 17"/>
          <p:cNvSpPr/>
          <p:nvPr/>
        </p:nvSpPr>
        <p:spPr>
          <a:xfrm>
            <a:off x="2743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3" name="Shape 18"/>
          <p:cNvSpPr/>
          <p:nvPr/>
        </p:nvSpPr>
        <p:spPr>
          <a:xfrm>
            <a:off x="2743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4" name="Shape 19"/>
          <p:cNvSpPr/>
          <p:nvPr/>
        </p:nvSpPr>
        <p:spPr>
          <a:xfrm>
            <a:off x="2743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08176" y="3163824"/>
            <a:ext cx="384048" cy="384048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2743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</a:t>
            </a:r>
            <a:endParaRPr lang="en-US" sz="1200" dirty="0"/>
          </a:p>
        </p:txBody>
      </p:sp>
      <p:sp>
        <p:nvSpPr>
          <p:cNvPr id="27" name="Text 21"/>
          <p:cNvSpPr/>
          <p:nvPr/>
        </p:nvSpPr>
        <p:spPr>
          <a:xfrm>
            <a:off x="3657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Clair / Sombre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persisté</a:t>
            </a:r>
            <a:endParaRPr lang="en-US" sz="1050" dirty="0"/>
          </a:p>
        </p:txBody>
      </p:sp>
      <p:sp>
        <p:nvSpPr>
          <p:cNvPr id="28" name="Shape 22"/>
          <p:cNvSpPr/>
          <p:nvPr/>
        </p:nvSpPr>
        <p:spPr>
          <a:xfrm>
            <a:off x="32461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29" name="Shape 23"/>
          <p:cNvSpPr/>
          <p:nvPr/>
        </p:nvSpPr>
        <p:spPr>
          <a:xfrm>
            <a:off x="32461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0" name="Shape 24"/>
          <p:cNvSpPr/>
          <p:nvPr/>
        </p:nvSpPr>
        <p:spPr>
          <a:xfrm>
            <a:off x="32461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79976" y="3163824"/>
            <a:ext cx="384048" cy="384048"/>
          </a:xfrm>
          <a:prstGeom prst="rect">
            <a:avLst/>
          </a:prstGeom>
        </p:spPr>
      </p:pic>
      <p:sp>
        <p:nvSpPr>
          <p:cNvPr id="32" name="Text 25"/>
          <p:cNvSpPr/>
          <p:nvPr/>
        </p:nvSpPr>
        <p:spPr>
          <a:xfrm>
            <a:off x="32461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Langue</a:t>
            </a:r>
            <a:endParaRPr lang="en-US" sz="1200" dirty="0"/>
          </a:p>
        </p:txBody>
      </p:sp>
      <p:sp>
        <p:nvSpPr>
          <p:cNvPr id="33" name="Text 26"/>
          <p:cNvSpPr/>
          <p:nvPr/>
        </p:nvSpPr>
        <p:spPr>
          <a:xfrm>
            <a:off x="33375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persisté</a:t>
            </a:r>
            <a:endParaRPr lang="en-US" sz="1050" dirty="0"/>
          </a:p>
        </p:txBody>
      </p:sp>
      <p:sp>
        <p:nvSpPr>
          <p:cNvPr id="34" name="Shape 27"/>
          <p:cNvSpPr/>
          <p:nvPr/>
        </p:nvSpPr>
        <p:spPr>
          <a:xfrm>
            <a:off x="6217920" y="2999232"/>
            <a:ext cx="2651760" cy="1874520"/>
          </a:xfrm>
          <a:prstGeom prst="roundRect">
            <a:avLst>
              <a:gd name="adj" fmla="val 4878"/>
            </a:avLst>
          </a:prstGeom>
          <a:solidFill>
            <a:srgbClr val="FFFFFF"/>
          </a:solidFill>
          <a:ln/>
          <a:effectLst>
            <a:outerShdw blurRad="76200" dist="25400" dir="2700000" algn="bl" rotWithShape="0">
              <a:srgbClr val="000000">
                <a:alpha val="9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sp>
        <p:nvSpPr>
          <p:cNvPr id="35" name="Shape 28"/>
          <p:cNvSpPr/>
          <p:nvPr/>
        </p:nvSpPr>
        <p:spPr>
          <a:xfrm>
            <a:off x="6217920" y="2999232"/>
            <a:ext cx="2651760" cy="850392"/>
          </a:xfrm>
          <a:prstGeom prst="roundRect">
            <a:avLst>
              <a:gd name="adj" fmla="val 10753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6" name="Shape 29"/>
          <p:cNvSpPr/>
          <p:nvPr/>
        </p:nvSpPr>
        <p:spPr>
          <a:xfrm>
            <a:off x="6217920" y="3666744"/>
            <a:ext cx="2651760" cy="18288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7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351776" y="3163824"/>
            <a:ext cx="384048" cy="384048"/>
          </a:xfrm>
          <a:prstGeom prst="rect">
            <a:avLst/>
          </a:prstGeom>
        </p:spPr>
      </p:pic>
      <p:sp>
        <p:nvSpPr>
          <p:cNvPr id="38" name="Text 30"/>
          <p:cNvSpPr/>
          <p:nvPr/>
        </p:nvSpPr>
        <p:spPr>
          <a:xfrm>
            <a:off x="6217920" y="3849624"/>
            <a:ext cx="26517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A23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Manette</a:t>
            </a:r>
            <a:endParaRPr lang="en-US" sz="1200" dirty="0"/>
          </a:p>
        </p:txBody>
      </p:sp>
      <p:sp>
        <p:nvSpPr>
          <p:cNvPr id="39" name="Text 31"/>
          <p:cNvSpPr/>
          <p:nvPr/>
        </p:nvSpPr>
        <p:spPr>
          <a:xfrm>
            <a:off x="6309360" y="4187952"/>
            <a:ext cx="2468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globale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6576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5" name="Text 3"/>
          <p:cNvSpPr/>
          <p:nvPr/>
        </p:nvSpPr>
        <p:spPr>
          <a:xfrm>
            <a:off x="36576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Utilisateur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36576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Navigateur web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9184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8" name="Text 6"/>
          <p:cNvSpPr/>
          <p:nvPr/>
        </p:nvSpPr>
        <p:spPr>
          <a:xfrm>
            <a:off x="329184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29184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Components + Hooks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217920" y="1051560"/>
            <a:ext cx="2560320" cy="1463040"/>
          </a:xfrm>
          <a:prstGeom prst="roundRect">
            <a:avLst>
              <a:gd name="adj" fmla="val 7500"/>
            </a:avLst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1" name="Text 9"/>
          <p:cNvSpPr/>
          <p:nvPr/>
        </p:nvSpPr>
        <p:spPr>
          <a:xfrm>
            <a:off x="6217920" y="118872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217920" y="169164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B2EB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publique</a:t>
            </a:r>
            <a:endParaRPr lang="en-US" sz="1100" dirty="0"/>
          </a:p>
        </p:txBody>
      </p:sp>
      <p:pic>
        <p:nvPicPr>
          <p:cNvPr id="1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80360" y="1508760"/>
            <a:ext cx="411480" cy="411480"/>
          </a:xfrm>
          <a:prstGeom prst="rect">
            <a:avLst/>
          </a:prstGeom>
        </p:spPr>
      </p:pic>
      <p:pic>
        <p:nvPicPr>
          <p:cNvPr id="14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440" y="1508760"/>
            <a:ext cx="411480" cy="411480"/>
          </a:xfrm>
          <a:prstGeom prst="rect">
            <a:avLst/>
          </a:prstGeom>
        </p:spPr>
      </p:pic>
      <p:sp>
        <p:nvSpPr>
          <p:cNvPr id="15" name="Shape 11"/>
          <p:cNvSpPr/>
          <p:nvPr/>
        </p:nvSpPr>
        <p:spPr>
          <a:xfrm>
            <a:off x="3291840" y="2880360"/>
            <a:ext cx="2560320" cy="1188720"/>
          </a:xfrm>
          <a:prstGeom prst="roundRect">
            <a:avLst>
              <a:gd name="adj" fmla="val 9231"/>
            </a:avLst>
          </a:prstGeom>
          <a:solidFill>
            <a:srgbClr val="37474F"/>
          </a:solidFill>
          <a:ln w="12700">
            <a:solidFill>
              <a:srgbClr val="546E7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6" name="Text 12"/>
          <p:cNvSpPr/>
          <p:nvPr/>
        </p:nvSpPr>
        <p:spPr>
          <a:xfrm>
            <a:off x="3291840" y="2971800"/>
            <a:ext cx="2560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FFC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localStorage</a:t>
            </a:r>
            <a:endParaRPr lang="en-US" sz="1400" dirty="0"/>
          </a:p>
        </p:txBody>
      </p:sp>
      <p:sp>
        <p:nvSpPr>
          <p:cNvPr id="17" name="Text 13"/>
          <p:cNvSpPr/>
          <p:nvPr/>
        </p:nvSpPr>
        <p:spPr>
          <a:xfrm>
            <a:off x="3291840" y="3383280"/>
            <a:ext cx="2560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90A4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· langue</a:t>
            </a:r>
            <a:endParaRPr lang="en-US" sz="1100" dirty="0"/>
          </a:p>
        </p:txBody>
      </p:sp>
      <p:sp>
        <p:nvSpPr>
          <p:cNvPr id="18" name="Shape 14"/>
          <p:cNvSpPr/>
          <p:nvPr/>
        </p:nvSpPr>
        <p:spPr>
          <a:xfrm>
            <a:off x="4572000" y="2514600"/>
            <a:ext cx="0" cy="365760"/>
          </a:xfrm>
          <a:prstGeom prst="line">
            <a:avLst/>
          </a:prstGeom>
          <a:noFill/>
          <a:ln w="25400">
            <a:solidFill>
              <a:srgbClr val="00ACC1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19" name="Shape 15"/>
          <p:cNvSpPr/>
          <p:nvPr/>
        </p:nvSpPr>
        <p:spPr>
          <a:xfrm>
            <a:off x="365760" y="4389120"/>
            <a:ext cx="8412480" cy="548640"/>
          </a:xfrm>
          <a:prstGeom prst="roundRect">
            <a:avLst>
              <a:gd name="adj" fmla="val 13333"/>
            </a:avLst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0" name="Text 16"/>
          <p:cNvSpPr/>
          <p:nvPr/>
        </p:nvSpPr>
        <p:spPr>
          <a:xfrm>
            <a:off x="365760" y="4416552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00ACC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100% côté client — pas de backend propre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4008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" y="457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2600" dirty="0"/>
          </a:p>
        </p:txBody>
      </p:sp>
      <p:sp>
        <p:nvSpPr>
          <p:cNvPr id="5" name="Text 2"/>
          <p:cNvSpPr/>
          <p:nvPr/>
        </p:nvSpPr>
        <p:spPr>
          <a:xfrm>
            <a:off x="365760" y="868680"/>
            <a:ext cx="3749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Bibliothèque JavaScript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interfaces composants.</a:t>
            </a:r>
            <a:endParaRPr lang="en-US" sz="1200" dirty="0"/>
          </a:p>
        </p:txBody>
      </p:sp>
      <p:sp>
        <p:nvSpPr>
          <p:cNvPr id="6" name="Text 3"/>
          <p:cNvSpPr/>
          <p:nvPr/>
        </p:nvSpPr>
        <p:spPr>
          <a:xfrm>
            <a:off x="365760" y="1664208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</a:t>
            </a:r>
            <a:endParaRPr lang="en-US" sz="1300" dirty="0"/>
          </a:p>
        </p:txBody>
      </p:sp>
      <p:sp>
        <p:nvSpPr>
          <p:cNvPr id="8" name="Text 4"/>
          <p:cNvSpPr/>
          <p:nvPr/>
        </p:nvSpPr>
        <p:spPr>
          <a:xfrm>
            <a:off x="676656" y="2057400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 virtuel efficace</a:t>
            </a:r>
            <a:endParaRPr lang="en-US" sz="1150" dirty="0"/>
          </a:p>
        </p:txBody>
      </p:sp>
      <p:sp>
        <p:nvSpPr>
          <p:cNvPr id="10" name="Text 5"/>
          <p:cNvSpPr/>
          <p:nvPr/>
        </p:nvSpPr>
        <p:spPr>
          <a:xfrm>
            <a:off x="676656" y="2459736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Composants réutilisables</a:t>
            </a:r>
            <a:endParaRPr lang="en-US" sz="1150" dirty="0"/>
          </a:p>
        </p:txBody>
      </p:sp>
      <p:sp>
        <p:nvSpPr>
          <p:cNvPr id="12" name="Text 6"/>
          <p:cNvSpPr/>
          <p:nvPr/>
        </p:nvSpPr>
        <p:spPr>
          <a:xfrm>
            <a:off x="676656" y="2862072"/>
            <a:ext cx="343814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écosystème</a:t>
            </a:r>
            <a:endParaRPr lang="en-US" sz="1150" dirty="0"/>
          </a:p>
        </p:txBody>
      </p:sp>
      <p:sp>
        <p:nvSpPr>
          <p:cNvPr id="13" name="Text 7"/>
          <p:cNvSpPr/>
          <p:nvPr/>
        </p:nvSpPr>
        <p:spPr>
          <a:xfrm>
            <a:off x="365760" y="333756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</a:t>
            </a:r>
            <a:endParaRPr lang="en-US" sz="1300" dirty="0"/>
          </a:p>
        </p:txBody>
      </p:sp>
      <p:sp>
        <p:nvSpPr>
          <p:cNvPr id="15" name="Text 8"/>
          <p:cNvSpPr/>
          <p:nvPr/>
        </p:nvSpPr>
        <p:spPr>
          <a:xfrm>
            <a:off x="658368" y="374904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Courbe d'apprentissage (JSX)</a:t>
            </a:r>
            <a:endParaRPr lang="en-US" sz="1100" dirty="0"/>
          </a:p>
        </p:txBody>
      </p:sp>
      <p:sp>
        <p:nvSpPr>
          <p:cNvPr id="17" name="Text 9"/>
          <p:cNvSpPr/>
          <p:nvPr/>
        </p:nvSpPr>
        <p:spPr>
          <a:xfrm>
            <a:off x="658368" y="411480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Boilerplate pour apps simples</a:t>
            </a:r>
            <a:endParaRPr lang="en-US" sz="1100" dirty="0"/>
          </a:p>
        </p:txBody>
      </p:sp>
      <p:sp>
        <p:nvSpPr>
          <p:cNvPr id="19" name="Text 10"/>
          <p:cNvSpPr/>
          <p:nvPr/>
        </p:nvSpPr>
        <p:spPr>
          <a:xfrm>
            <a:off x="658368" y="4480560"/>
            <a:ext cx="345643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546E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Pièges : stale state</a:t>
            </a:r>
            <a:endParaRPr lang="en-US" sz="1100" dirty="0"/>
          </a:p>
        </p:txBody>
      </p:sp>
      <p:sp>
        <p:nvSpPr>
          <p:cNvPr id="20" name="Shape 11"/>
          <p:cNvSpPr/>
          <p:nvPr/>
        </p:nvSpPr>
        <p:spPr>
          <a:xfrm>
            <a:off x="6080760" y="96012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1" name="Text 12"/>
          <p:cNvSpPr/>
          <p:nvPr/>
        </p:nvSpPr>
        <p:spPr>
          <a:xfrm>
            <a:off x="6080760" y="96012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</a:t>
            </a:r>
            <a:endParaRPr lang="en-US" sz="1000" dirty="0"/>
          </a:p>
        </p:txBody>
      </p:sp>
      <p:sp>
        <p:nvSpPr>
          <p:cNvPr id="22" name="Shape 13"/>
          <p:cNvSpPr/>
          <p:nvPr/>
        </p:nvSpPr>
        <p:spPr>
          <a:xfrm>
            <a:off x="434340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3" name="Text 14"/>
          <p:cNvSpPr/>
          <p:nvPr/>
        </p:nvSpPr>
        <p:spPr>
          <a:xfrm>
            <a:off x="434340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</a:t>
            </a:r>
            <a:endParaRPr lang="en-US" sz="1000" dirty="0"/>
          </a:p>
        </p:txBody>
      </p:sp>
      <p:sp>
        <p:nvSpPr>
          <p:cNvPr id="24" name="Shape 15"/>
          <p:cNvSpPr/>
          <p:nvPr/>
        </p:nvSpPr>
        <p:spPr>
          <a:xfrm>
            <a:off x="608076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5" name="Text 16"/>
          <p:cNvSpPr/>
          <p:nvPr/>
        </p:nvSpPr>
        <p:spPr>
          <a:xfrm>
            <a:off x="608076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Quiz</a:t>
            </a:r>
            <a:endParaRPr lang="en-US" sz="1000" dirty="0"/>
          </a:p>
        </p:txBody>
      </p:sp>
      <p:sp>
        <p:nvSpPr>
          <p:cNvPr id="26" name="Shape 17"/>
          <p:cNvSpPr/>
          <p:nvPr/>
        </p:nvSpPr>
        <p:spPr>
          <a:xfrm>
            <a:off x="7818120" y="1901952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7" name="Text 18"/>
          <p:cNvSpPr/>
          <p:nvPr/>
        </p:nvSpPr>
        <p:spPr>
          <a:xfrm>
            <a:off x="7818120" y="1901952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Home</a:t>
            </a:r>
            <a:endParaRPr lang="en-US" sz="1000" dirty="0"/>
          </a:p>
        </p:txBody>
      </p:sp>
      <p:sp>
        <p:nvSpPr>
          <p:cNvPr id="28" name="Shape 19"/>
          <p:cNvSpPr/>
          <p:nvPr/>
        </p:nvSpPr>
        <p:spPr>
          <a:xfrm>
            <a:off x="6080760" y="2880360"/>
            <a:ext cx="1188720" cy="457200"/>
          </a:xfrm>
          <a:prstGeom prst="roundRect">
            <a:avLst>
              <a:gd name="adj" fmla="val 16000"/>
            </a:avLst>
          </a:prstGeom>
          <a:solidFill>
            <a:srgbClr val="00695C"/>
          </a:solidFill>
          <a:ln w="12700">
            <a:solidFill>
              <a:srgbClr val="00695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29" name="Text 20"/>
          <p:cNvSpPr/>
          <p:nvPr/>
        </p:nvSpPr>
        <p:spPr>
          <a:xfrm>
            <a:off x="6080760" y="2880360"/>
            <a:ext cx="1188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QuestionCard</a:t>
            </a:r>
            <a:endParaRPr lang="en-US" sz="1000" dirty="0"/>
          </a:p>
        </p:txBody>
      </p:sp>
      <p:sp>
        <p:nvSpPr>
          <p:cNvPr id="30" name="Shape 21"/>
          <p:cNvSpPr/>
          <p:nvPr/>
        </p:nvSpPr>
        <p:spPr>
          <a:xfrm>
            <a:off x="6675120" y="1417320"/>
            <a:ext cx="0" cy="91440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1" name="Shape 22"/>
          <p:cNvSpPr/>
          <p:nvPr/>
        </p:nvSpPr>
        <p:spPr>
          <a:xfrm>
            <a:off x="4937760" y="1508760"/>
            <a:ext cx="3474720" cy="0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2" name="Shape 23"/>
          <p:cNvSpPr/>
          <p:nvPr/>
        </p:nvSpPr>
        <p:spPr>
          <a:xfrm>
            <a:off x="493776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3" name="Shape 24"/>
          <p:cNvSpPr/>
          <p:nvPr/>
        </p:nvSpPr>
        <p:spPr>
          <a:xfrm>
            <a:off x="667512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4" name="Shape 25"/>
          <p:cNvSpPr/>
          <p:nvPr/>
        </p:nvSpPr>
        <p:spPr>
          <a:xfrm>
            <a:off x="8412480" y="1508760"/>
            <a:ext cx="0" cy="393192"/>
          </a:xfrm>
          <a:prstGeom prst="line">
            <a:avLst/>
          </a:prstGeom>
          <a:noFill/>
          <a:ln w="19050">
            <a:solidFill>
              <a:srgbClr val="9FA8DA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5" name="Shape 26"/>
          <p:cNvSpPr/>
          <p:nvPr/>
        </p:nvSpPr>
        <p:spPr>
          <a:xfrm>
            <a:off x="6675120" y="2359152"/>
            <a:ext cx="0" cy="521208"/>
          </a:xfrm>
          <a:prstGeom prst="line">
            <a:avLst/>
          </a:prstGeom>
          <a:noFill/>
          <a:ln w="19050">
            <a:solidFill>
              <a:srgbClr val="80CBC4"/>
            </a:solidFill>
            <a:prstDash val="dash"/>
          </a:ln>
        </p:spPr>
        <p:txBody>
          <a:bodyPr/>
          <a:lstStyle/>
          <a:p>
            <a:endParaRPr lang="fr-FR"/>
          </a:p>
        </p:txBody>
      </p:sp>
      <p:sp>
        <p:nvSpPr>
          <p:cNvPr id="36" name="Text 27"/>
          <p:cNvSpPr/>
          <p:nvPr/>
        </p:nvSpPr>
        <p:spPr>
          <a:xfrm>
            <a:off x="4480560" y="3749040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9FA8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Arbre de composants</a:t>
            </a:r>
            <a:endParaRPr lang="en-US" sz="1000" dirty="0"/>
          </a:p>
        </p:txBody>
      </p:sp>
      <p:pic>
        <p:nvPicPr>
          <p:cNvPr id="38" name="Image 37">
            <a:extLst>
              <a:ext uri="{FF2B5EF4-FFF2-40B4-BE49-F238E27FC236}">
                <a16:creationId xmlns:a16="http://schemas.microsoft.com/office/drawing/2014/main" id="{881E6562-5C9C-707B-D8FF-9C74E88CFE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5985" y="2537460"/>
            <a:ext cx="2383390" cy="1179576"/>
          </a:xfrm>
          <a:prstGeom prst="rect">
            <a:avLst/>
          </a:prstGeom>
        </p:spPr>
      </p:pic>
      <p:pic>
        <p:nvPicPr>
          <p:cNvPr id="40" name="Image 39">
            <a:extLst>
              <a:ext uri="{FF2B5EF4-FFF2-40B4-BE49-F238E27FC236}">
                <a16:creationId xmlns:a16="http://schemas.microsoft.com/office/drawing/2014/main" id="{B303C1E5-7600-A41E-6946-B56AD0BC077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29285" y="3845052"/>
            <a:ext cx="3136791" cy="1060696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1">
            <a:lumMod val="20000"/>
            <a:lumOff val="80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3F1A0146-1518-99BD-8F60-36368E5F672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0663" y="541134"/>
            <a:ext cx="3878392" cy="1502194"/>
          </a:xfrm>
          <a:prstGeom prst="rect">
            <a:avLst/>
          </a:prstGeom>
        </p:spPr>
      </p:pic>
      <p:pic>
        <p:nvPicPr>
          <p:cNvPr id="9" name="Image 8">
            <a:extLst>
              <a:ext uri="{FF2B5EF4-FFF2-40B4-BE49-F238E27FC236}">
                <a16:creationId xmlns:a16="http://schemas.microsoft.com/office/drawing/2014/main" id="{37467FF8-AC65-1CED-9390-715638E200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60469" y="541134"/>
            <a:ext cx="3334111" cy="2089948"/>
          </a:xfrm>
          <a:prstGeom prst="rect">
            <a:avLst/>
          </a:prstGeom>
        </p:spPr>
      </p:pic>
      <p:pic>
        <p:nvPicPr>
          <p:cNvPr id="11" name="Image 10">
            <a:extLst>
              <a:ext uri="{FF2B5EF4-FFF2-40B4-BE49-F238E27FC236}">
                <a16:creationId xmlns:a16="http://schemas.microsoft.com/office/drawing/2014/main" id="{20FCDBBD-976B-17DF-805C-8586948B6CF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60469" y="2962912"/>
            <a:ext cx="3334111" cy="1569840"/>
          </a:xfrm>
          <a:prstGeom prst="rect">
            <a:avLst/>
          </a:prstGeom>
        </p:spPr>
      </p:pic>
      <p:sp>
        <p:nvSpPr>
          <p:cNvPr id="12" name="ZoneTexte 11">
            <a:extLst>
              <a:ext uri="{FF2B5EF4-FFF2-40B4-BE49-F238E27FC236}">
                <a16:creationId xmlns:a16="http://schemas.microsoft.com/office/drawing/2014/main" id="{F4D360DC-4CEE-6B5E-EF88-F445784C6975}"/>
              </a:ext>
            </a:extLst>
          </p:cNvPr>
          <p:cNvSpPr txBox="1"/>
          <p:nvPr/>
        </p:nvSpPr>
        <p:spPr>
          <a:xfrm>
            <a:off x="312420" y="2447930"/>
            <a:ext cx="4406537" cy="221599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>
              <a:lnSpc>
                <a:spcPct val="150000"/>
              </a:lnSpc>
            </a:pPr>
            <a:r>
              <a:rPr lang="fr-FR" sz="1600" b="1" u="sng" dirty="0"/>
              <a:t>Différences</a:t>
            </a:r>
            <a:endParaRPr lang="fr-FR" sz="1600" dirty="0"/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600" dirty="0" err="1"/>
              <a:t>Parsing</a:t>
            </a:r>
            <a:r>
              <a:rPr lang="fr-FR" sz="1600" dirty="0"/>
              <a:t> JSON automatique (</a:t>
            </a:r>
            <a:r>
              <a:rPr lang="fr-FR" sz="1600" dirty="0" err="1"/>
              <a:t>res.data</a:t>
            </a:r>
            <a:r>
              <a:rPr lang="fr-FR" sz="1600" dirty="0"/>
              <a:t> vs .</a:t>
            </a:r>
            <a:r>
              <a:rPr lang="fr-FR" sz="1600" dirty="0" err="1"/>
              <a:t>json</a:t>
            </a:r>
            <a:r>
              <a:rPr lang="fr-FR" sz="1600" dirty="0"/>
              <a:t>())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600" dirty="0"/>
              <a:t>Erreurs HTTP gérées automatiquement </a:t>
            </a:r>
          </a:p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fr-FR" sz="1600" dirty="0"/>
              <a:t>Envoi de données simplifié (sérialisation + headers automatiques)</a:t>
            </a:r>
          </a:p>
          <a:p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27588869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B5E20"/>
          </a:solidFill>
          <a:ln w="12700">
            <a:solidFill>
              <a:srgbClr val="1B5E20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" y="64008"/>
            <a:ext cx="566928" cy="56692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41248" y="45720"/>
            <a:ext cx="79552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2600" dirty="0"/>
          </a:p>
        </p:txBody>
      </p:sp>
      <p:sp>
        <p:nvSpPr>
          <p:cNvPr id="8" name="Shape 5"/>
          <p:cNvSpPr/>
          <p:nvPr/>
        </p:nvSpPr>
        <p:spPr>
          <a:xfrm>
            <a:off x="365760" y="22860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0A2E0B"/>
          </a:solidFill>
          <a:ln w="12700">
            <a:solidFill>
              <a:srgbClr val="388E3C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Shape 6"/>
          <p:cNvSpPr/>
          <p:nvPr/>
        </p:nvSpPr>
        <p:spPr>
          <a:xfrm>
            <a:off x="4754880" y="2286000"/>
            <a:ext cx="4023360" cy="2606040"/>
          </a:xfrm>
          <a:prstGeom prst="roundRect">
            <a:avLst>
              <a:gd name="adj" fmla="val 3509"/>
            </a:avLst>
          </a:prstGeom>
          <a:solidFill>
            <a:srgbClr val="2D0A0A"/>
          </a:solidFill>
          <a:ln w="12700">
            <a:solidFill>
              <a:srgbClr val="C62828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0" name="Text 7"/>
          <p:cNvSpPr/>
          <p:nvPr/>
        </p:nvSpPr>
        <p:spPr>
          <a:xfrm>
            <a:off x="64008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A5D6A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Avantages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914400" y="28529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Gratuite, sans clé API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914400" y="34015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prêtes à l'emploi</a:t>
            </a:r>
            <a:endParaRPr lang="en-US" sz="1200" dirty="0"/>
          </a:p>
        </p:txBody>
      </p:sp>
      <p:sp>
        <p:nvSpPr>
          <p:cNvPr id="16" name="Text 10"/>
          <p:cNvSpPr/>
          <p:nvPr/>
        </p:nvSpPr>
        <p:spPr>
          <a:xfrm>
            <a:off x="914400" y="3950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E8F5E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URL simple</a:t>
            </a:r>
            <a:endParaRPr lang="en-US" sz="1200" dirty="0"/>
          </a:p>
        </p:txBody>
      </p:sp>
      <p:sp>
        <p:nvSpPr>
          <p:cNvPr id="17" name="Text 11"/>
          <p:cNvSpPr/>
          <p:nvPr/>
        </p:nvSpPr>
        <p:spPr>
          <a:xfrm>
            <a:off x="4937760" y="2377440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F9A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Inconvénients</a:t>
            </a:r>
            <a:endParaRPr lang="en-US" sz="1400" dirty="0"/>
          </a:p>
        </p:txBody>
      </p:sp>
      <p:sp>
        <p:nvSpPr>
          <p:cNvPr id="19" name="Text 12"/>
          <p:cNvSpPr/>
          <p:nvPr/>
        </p:nvSpPr>
        <p:spPr>
          <a:xfrm>
            <a:off x="5212080" y="285292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Rate limiting (HTTP 429)</a:t>
            </a:r>
            <a:endParaRPr lang="en-US" sz="1200" dirty="0"/>
          </a:p>
        </p:txBody>
      </p:sp>
      <p:sp>
        <p:nvSpPr>
          <p:cNvPr id="21" name="Text 13"/>
          <p:cNvSpPr/>
          <p:nvPr/>
        </p:nvSpPr>
        <p:spPr>
          <a:xfrm>
            <a:off x="5212080" y="340156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Texte encodé HTML (&amp;amp;)</a:t>
            </a:r>
            <a:endParaRPr lang="en-US" sz="1200" dirty="0"/>
          </a:p>
        </p:txBody>
      </p:sp>
      <p:sp>
        <p:nvSpPr>
          <p:cNvPr id="23" name="Text 14"/>
          <p:cNvSpPr/>
          <p:nvPr/>
        </p:nvSpPr>
        <p:spPr>
          <a:xfrm>
            <a:off x="5212080" y="3950208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FFCDD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Contenu en anglais seulement</a:t>
            </a:r>
            <a:endParaRPr lang="en-US" sz="1200" dirty="0"/>
          </a:p>
        </p:txBody>
      </p:sp>
      <p:pic>
        <p:nvPicPr>
          <p:cNvPr id="25" name="Image 24">
            <a:extLst>
              <a:ext uri="{FF2B5EF4-FFF2-40B4-BE49-F238E27FC236}">
                <a16:creationId xmlns:a16="http://schemas.microsoft.com/office/drawing/2014/main" id="{2B9422FC-60F4-72C8-8994-A1E29ED923D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11736" y="1005840"/>
            <a:ext cx="6920527" cy="1024986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0F4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1A237E"/>
          </a:solidFill>
          <a:ln w="12700">
            <a:solidFill>
              <a:srgbClr val="1A237E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technique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A237E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05840" y="1051560"/>
            <a:ext cx="457200" cy="4572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743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2743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UI / composants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23317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00838F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63240" y="1051560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23317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Router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23317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Navigation SPA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43891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1565C0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20640" y="105156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3891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Axios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43891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Appels API REST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6446520" y="86868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2E7D32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78040" y="1051560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446520" y="164592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Trivia DB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6446520" y="21031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quiz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12801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6A1B9A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011680" y="2926080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2801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CSS Variables</a:t>
            </a:r>
            <a:endParaRPr lang="en-US" sz="1300" dirty="0"/>
          </a:p>
        </p:txBody>
      </p:sp>
      <p:sp>
        <p:nvSpPr>
          <p:cNvPr id="23" name="Text 16"/>
          <p:cNvSpPr/>
          <p:nvPr/>
        </p:nvSpPr>
        <p:spPr>
          <a:xfrm>
            <a:off x="12801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Thème sombre/clair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3375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E65100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069080" y="2926080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3375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maison</a:t>
            </a:r>
            <a:endParaRPr lang="en-US" sz="1300" dirty="0"/>
          </a:p>
        </p:txBody>
      </p:sp>
      <p:sp>
        <p:nvSpPr>
          <p:cNvPr id="27" name="Text 19"/>
          <p:cNvSpPr/>
          <p:nvPr/>
        </p:nvSpPr>
        <p:spPr>
          <a:xfrm>
            <a:off x="33375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 / EN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5394960" y="2743200"/>
            <a:ext cx="1920240" cy="2103120"/>
          </a:xfrm>
          <a:prstGeom prst="roundRect">
            <a:avLst>
              <a:gd name="adj" fmla="val 5714"/>
            </a:avLst>
          </a:prstGeom>
          <a:solidFill>
            <a:srgbClr val="AD1457"/>
          </a:solidFill>
          <a:ln/>
          <a:effectLst>
            <a:outerShdw blurRad="101600" dist="38100" dir="2700000" algn="bl" rotWithShape="0">
              <a:srgbClr val="000000">
                <a:alpha val="13000"/>
              </a:srgbClr>
            </a:outerShdw>
          </a:effectLst>
        </p:spPr>
        <p:txBody>
          <a:bodyPr/>
          <a:lstStyle/>
          <a:p>
            <a:endParaRPr lang="fr-FR"/>
          </a:p>
        </p:txBody>
      </p:sp>
      <p:pic>
        <p:nvPicPr>
          <p:cNvPr id="29" name="Image 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26480" y="2926080"/>
            <a:ext cx="457200" cy="457200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5394960" y="3520440"/>
            <a:ext cx="1920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</a:t>
            </a:r>
            <a:endParaRPr lang="en-US" sz="1300" dirty="0"/>
          </a:p>
        </p:txBody>
      </p:sp>
      <p:sp>
        <p:nvSpPr>
          <p:cNvPr id="31" name="Text 22"/>
          <p:cNvSpPr/>
          <p:nvPr/>
        </p:nvSpPr>
        <p:spPr>
          <a:xfrm>
            <a:off x="5394960" y="397764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ECEF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manette</a:t>
            </a:r>
            <a:endParaRPr lang="en-US" sz="11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31520"/>
          </a:xfrm>
          <a:prstGeom prst="rect">
            <a:avLst/>
          </a:prstGeom>
          <a:solidFill>
            <a:srgbClr val="00838F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Text 1"/>
          <p:cNvSpPr/>
          <p:nvPr/>
        </p:nvSpPr>
        <p:spPr>
          <a:xfrm>
            <a:off x="365760" y="4572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que j'ai appris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320040" y="886968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6616" y="923544"/>
            <a:ext cx="329184" cy="329184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841248" y="868680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Structurer une app React en pages, composants et contextes</a:t>
            </a:r>
            <a:endParaRPr lang="en-US" sz="1250" dirty="0"/>
          </a:p>
        </p:txBody>
      </p:sp>
      <p:sp>
        <p:nvSpPr>
          <p:cNvPr id="7" name="Shape 4"/>
          <p:cNvSpPr/>
          <p:nvPr/>
        </p:nvSpPr>
        <p:spPr>
          <a:xfrm>
            <a:off x="320040" y="1563624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8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6616" y="1600200"/>
            <a:ext cx="329184" cy="3291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841248" y="1545336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Maîtriser les hooks et le stale state (useEffect, dépendances)</a:t>
            </a:r>
            <a:endParaRPr lang="en-US" sz="1250" dirty="0"/>
          </a:p>
        </p:txBody>
      </p:sp>
      <p:sp>
        <p:nvSpPr>
          <p:cNvPr id="10" name="Shape 6"/>
          <p:cNvSpPr/>
          <p:nvPr/>
        </p:nvSpPr>
        <p:spPr>
          <a:xfrm>
            <a:off x="320040" y="2240280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1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56616" y="2276856"/>
            <a:ext cx="329184" cy="329184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841248" y="2221992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Consommer une API tierce avec ses contraintes (rate limiting)</a:t>
            </a:r>
            <a:endParaRPr lang="en-US" sz="1250" dirty="0"/>
          </a:p>
        </p:txBody>
      </p:sp>
      <p:sp>
        <p:nvSpPr>
          <p:cNvPr id="13" name="Shape 8"/>
          <p:cNvSpPr/>
          <p:nvPr/>
        </p:nvSpPr>
        <p:spPr>
          <a:xfrm>
            <a:off x="320040" y="2916936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56616" y="2953512"/>
            <a:ext cx="329184" cy="329184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841248" y="2898648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Système de thème avec variables CSS — sans librairie</a:t>
            </a:r>
            <a:endParaRPr lang="en-US" sz="1250" dirty="0"/>
          </a:p>
        </p:txBody>
      </p:sp>
      <p:sp>
        <p:nvSpPr>
          <p:cNvPr id="16" name="Shape 10"/>
          <p:cNvSpPr/>
          <p:nvPr/>
        </p:nvSpPr>
        <p:spPr>
          <a:xfrm>
            <a:off x="320040" y="3593592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17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6616" y="3630168"/>
            <a:ext cx="329184" cy="329184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841248" y="3575304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i18n maison : clés imbriquées, synchronisation avec l'UI</a:t>
            </a:r>
            <a:endParaRPr lang="en-US" sz="1250" dirty="0"/>
          </a:p>
        </p:txBody>
      </p:sp>
      <p:sp>
        <p:nvSpPr>
          <p:cNvPr id="19" name="Shape 12"/>
          <p:cNvSpPr/>
          <p:nvPr/>
        </p:nvSpPr>
        <p:spPr>
          <a:xfrm>
            <a:off x="320040" y="4270248"/>
            <a:ext cx="402336" cy="402336"/>
          </a:xfrm>
          <a:prstGeom prst="ellipse">
            <a:avLst/>
          </a:prstGeom>
          <a:solidFill>
            <a:srgbClr val="1C3A4A"/>
          </a:solidFill>
          <a:ln w="12700">
            <a:solidFill>
              <a:srgbClr val="00ACC1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pic>
        <p:nvPicPr>
          <p:cNvPr id="20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56616" y="4306824"/>
            <a:ext cx="329184" cy="329184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841248" y="4251960"/>
            <a:ext cx="79552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50" dirty="0">
                <a:solidFill>
                  <a:srgbClr val="CFD8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Gamepad API — polling via requestAnimationFrame, cooldown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37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371600" y="2743200"/>
            <a:ext cx="4114800" cy="4114800"/>
          </a:xfrm>
          <a:prstGeom prst="ellipse">
            <a:avLst/>
          </a:prstGeom>
          <a:solidFill>
            <a:srgbClr val="283593"/>
          </a:solidFill>
          <a:ln w="12700">
            <a:solidFill>
              <a:srgbClr val="283593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3" name="Shape 1"/>
          <p:cNvSpPr/>
          <p:nvPr/>
        </p:nvSpPr>
        <p:spPr>
          <a:xfrm>
            <a:off x="-914400" y="3200400"/>
            <a:ext cx="3200400" cy="3200400"/>
          </a:xfrm>
          <a:prstGeom prst="ellipse">
            <a:avLst/>
          </a:prstGeom>
          <a:solidFill>
            <a:srgbClr val="00838F">
              <a:alpha val="50000"/>
            </a:srgbClr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4" name="Text 2"/>
          <p:cNvSpPr/>
          <p:nvPr/>
        </p:nvSpPr>
        <p:spPr>
          <a:xfrm>
            <a:off x="2286000" y="411480"/>
            <a:ext cx="6492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400" b="1" dirty="0">
                <a:solidFill>
                  <a:srgbClr val="FFCA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Pistes d'évolution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2286000" y="114300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6" name="Text 4"/>
          <p:cNvSpPr/>
          <p:nvPr/>
        </p:nvSpPr>
        <p:spPr>
          <a:xfrm>
            <a:off x="2514600" y="117957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Authentification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172200" y="117957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Firebase Auth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286000" y="201168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9" name="Text 7"/>
          <p:cNvSpPr/>
          <p:nvPr/>
        </p:nvSpPr>
        <p:spPr>
          <a:xfrm>
            <a:off x="2514600" y="204825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Sauvegarde &amp; classement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172200" y="204825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2286000" y="2880360"/>
            <a:ext cx="6492240" cy="685800"/>
          </a:xfrm>
          <a:prstGeom prst="roundRect">
            <a:avLst>
              <a:gd name="adj" fmla="val 13333"/>
            </a:avLst>
          </a:prstGeom>
          <a:solidFill>
            <a:srgbClr val="283593"/>
          </a:solidFill>
          <a:ln w="12700">
            <a:solidFill>
              <a:srgbClr val="00838F"/>
            </a:solidFill>
            <a:prstDash val="solid"/>
          </a:ln>
        </p:spPr>
        <p:txBody>
          <a:bodyPr/>
          <a:lstStyle/>
          <a:p>
            <a:endParaRPr lang="fr-FR"/>
          </a:p>
        </p:txBody>
      </p:sp>
      <p:sp>
        <p:nvSpPr>
          <p:cNvPr id="12" name="Text 10"/>
          <p:cNvSpPr/>
          <p:nvPr/>
        </p:nvSpPr>
        <p:spPr>
          <a:xfrm>
            <a:off x="2514600" y="2916936"/>
            <a:ext cx="365760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 multijoueur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172200" y="2916936"/>
            <a:ext cx="242316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200" dirty="0">
                <a:solidFill>
                  <a:srgbClr val="90CA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Sons, animations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2286000" y="3840480"/>
            <a:ext cx="6492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Merci pour votre attention !</a:t>
            </a:r>
            <a:endParaRPr lang="en-US" sz="2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301</Words>
  <Application>Microsoft Office PowerPoint</Application>
  <PresentationFormat>Affichage à l'écran (16:9)</PresentationFormat>
  <Paragraphs>100</Paragraphs>
  <Slides>9</Slides>
  <Notes>8</Notes>
  <HiddenSlides>0</HiddenSlides>
  <MMClips>0</MMClips>
  <ScaleCrop>false</ScaleCrop>
  <HeadingPairs>
    <vt:vector size="6" baseType="variant">
      <vt:variant>
        <vt:lpstr>Polices utilisées</vt:lpstr>
      </vt:variant>
      <vt:variant>
        <vt:i4>2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Antoine Aubry</cp:lastModifiedBy>
  <cp:revision>3</cp:revision>
  <dcterms:created xsi:type="dcterms:W3CDTF">2026-06-11T22:29:39Z</dcterms:created>
  <dcterms:modified xsi:type="dcterms:W3CDTF">2026-06-12T09:36:09Z</dcterms:modified>
</cp:coreProperties>
</file>